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3" r:id="rId16"/>
    <p:sldId id="271" r:id="rId17"/>
    <p:sldId id="266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310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7632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5855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115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336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3998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38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0961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0726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4275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020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9813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56475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457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0039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003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4067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7A7C-2195-48F2-9B2E-06134B5D0E44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A7C2C-3EA0-4C7A-9D52-B432CD197A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8418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2FF56-96E3-3ECE-5128-1B695FB69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5211" y="1706045"/>
            <a:ext cx="9144000" cy="3078805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Анти-стеганография: технологии, препятствующие скрытию информации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5D2C0F-5E09-E44F-3721-E63559639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8673" y="141863"/>
            <a:ext cx="7960467" cy="694716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  <a:effectLst/>
              </a:rPr>
              <a:t>Белорусский государственный технологический университет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EF6B024E-62E4-A38E-3AE3-D33BFCF71EB7}"/>
              </a:ext>
            </a:extLst>
          </p:cNvPr>
          <p:cNvSpPr txBox="1">
            <a:spLocks/>
          </p:cNvSpPr>
          <p:nvPr/>
        </p:nvSpPr>
        <p:spPr>
          <a:xfrm>
            <a:off x="8521430" y="5583238"/>
            <a:ext cx="3427378" cy="866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Подготовил: студент 4 курса факультета ИТ Костюченко В. Ф.</a:t>
            </a:r>
          </a:p>
          <a:p>
            <a:r>
              <a:rPr lang="ru-RU" sz="1400" dirty="0"/>
              <a:t>Руководитель: ст. преп. </a:t>
            </a:r>
            <a:r>
              <a:rPr lang="ru-RU" sz="1400" dirty="0" err="1"/>
              <a:t>Ржеутская</a:t>
            </a:r>
            <a:r>
              <a:rPr lang="ru-RU" sz="1400" dirty="0"/>
              <a:t> Н. В.</a:t>
            </a:r>
          </a:p>
        </p:txBody>
      </p:sp>
      <p:pic>
        <p:nvPicPr>
          <p:cNvPr id="1026" name="Picture 2" descr="Символика БГТУ">
            <a:extLst>
              <a:ext uri="{FF2B5EF4-FFF2-40B4-BE49-F238E27FC236}">
                <a16:creationId xmlns:a16="http://schemas.microsoft.com/office/drawing/2014/main" id="{5DA7535C-5409-B545-D4FE-A0DB09FF7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9211" y="141863"/>
            <a:ext cx="732816" cy="76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014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11BB1-DE13-4061-57DA-C70DB7082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103" y="152400"/>
            <a:ext cx="9905955" cy="1141379"/>
          </a:xfrm>
        </p:spPr>
        <p:txBody>
          <a:bodyPr/>
          <a:lstStyle/>
          <a:p>
            <a:r>
              <a:rPr lang="ru-RU" dirty="0">
                <a:effectLst/>
              </a:rPr>
              <a:t>Что такое анти-стеганография?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765A90-6F3B-2D74-62A2-A37E8F7D4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01867" y="939804"/>
            <a:ext cx="8990133" cy="830091"/>
          </a:xfrm>
        </p:spPr>
        <p:txBody>
          <a:bodyPr>
            <a:normAutofit/>
          </a:bodyPr>
          <a:lstStyle/>
          <a:p>
            <a:r>
              <a:rPr lang="ru-RU" sz="2000" dirty="0">
                <a:effectLst/>
              </a:rPr>
              <a:t>Анти-стеганография – область кибербезопасности, направленная на обнаружение и нейтрализацию скрытой информации.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EE373D57-4EA3-F6C7-E589-967F304468CE}"/>
              </a:ext>
            </a:extLst>
          </p:cNvPr>
          <p:cNvSpPr txBox="1">
            <a:spLocks/>
          </p:cNvSpPr>
          <p:nvPr/>
        </p:nvSpPr>
        <p:spPr>
          <a:xfrm>
            <a:off x="1744572" y="1931460"/>
            <a:ext cx="7756187" cy="958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effectLst/>
              </a:rPr>
              <a:t>Проблема: стеганография скрывает данные в файлах (изображения, аудио, видео), делая их невидимыми.</a:t>
            </a: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9AFF5FF2-4FF4-9466-C04F-019FCE0CD54D}"/>
              </a:ext>
            </a:extLst>
          </p:cNvPr>
          <p:cNvSpPr txBox="1">
            <a:spLocks/>
          </p:cNvSpPr>
          <p:nvPr/>
        </p:nvSpPr>
        <p:spPr>
          <a:xfrm>
            <a:off x="7169301" y="3001508"/>
            <a:ext cx="4598629" cy="1371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effectLst/>
              </a:rPr>
              <a:t>Актуальность: 40% кибератак в 2025 году используют стеганографию для сокрытия вредоносного кода.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D43D2554-0D22-CA84-B849-7EADF60BFE28}"/>
              </a:ext>
            </a:extLst>
          </p:cNvPr>
          <p:cNvSpPr txBox="1">
            <a:spLocks/>
          </p:cNvSpPr>
          <p:nvPr/>
        </p:nvSpPr>
        <p:spPr>
          <a:xfrm>
            <a:off x="7198575" y="4373107"/>
            <a:ext cx="4111483" cy="1371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effectLst/>
              </a:rPr>
              <a:t>Цель: защита от кибершпионажа, утечек данных и вредоносного ПО.</a:t>
            </a:r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03B1858F-3B22-97FC-3D17-1D8F156746C0}"/>
              </a:ext>
            </a:extLst>
          </p:cNvPr>
          <p:cNvSpPr/>
          <p:nvPr/>
        </p:nvSpPr>
        <p:spPr>
          <a:xfrm>
            <a:off x="2816002" y="1254333"/>
            <a:ext cx="340469" cy="20103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EE1012A1-FFE0-F8FC-DA75-626A911657D5}"/>
              </a:ext>
            </a:extLst>
          </p:cNvPr>
          <p:cNvSpPr/>
          <p:nvPr/>
        </p:nvSpPr>
        <p:spPr>
          <a:xfrm>
            <a:off x="1404103" y="2279498"/>
            <a:ext cx="340469" cy="20103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09B4E3EB-2DA4-158A-EA65-2FA702F732CE}"/>
              </a:ext>
            </a:extLst>
          </p:cNvPr>
          <p:cNvSpPr/>
          <p:nvPr/>
        </p:nvSpPr>
        <p:spPr>
          <a:xfrm>
            <a:off x="6828832" y="3586791"/>
            <a:ext cx="340469" cy="20103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D36FFC48-5663-03BE-D535-E94732E9D783}"/>
              </a:ext>
            </a:extLst>
          </p:cNvPr>
          <p:cNvSpPr/>
          <p:nvPr/>
        </p:nvSpPr>
        <p:spPr>
          <a:xfrm>
            <a:off x="6828832" y="4958390"/>
            <a:ext cx="340469" cy="20103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77167ED-0B5B-7955-740B-D284F1A30C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5"/>
          <a:stretch/>
        </p:blipFill>
        <p:spPr>
          <a:xfrm>
            <a:off x="364737" y="2889628"/>
            <a:ext cx="6314849" cy="364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1772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5769A4-1250-A759-3770-975504863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534" y="275498"/>
            <a:ext cx="9906000" cy="1374776"/>
          </a:xfrm>
        </p:spPr>
        <p:txBody>
          <a:bodyPr/>
          <a:lstStyle/>
          <a:p>
            <a:r>
              <a:rPr lang="ru-RU" dirty="0">
                <a:effectLst/>
              </a:rPr>
              <a:t>Как работает стеганография?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0BAE88-47CE-A6ED-408D-5F55512DB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673" y="1158869"/>
            <a:ext cx="1095986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Стеганография скрывает данные в файлах, не меняя их внешний вид.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Основные методы: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LSB-замена (младший бит) в изображениях.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Скрытие в аудио (изменение частот).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Встраивание в видео (кадры).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Опасности: шпионаж, распространение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malware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обход систем безопасности. </a:t>
            </a:r>
          </a:p>
        </p:txBody>
      </p:sp>
    </p:spTree>
    <p:extLst>
      <p:ext uri="{BB962C8B-B14F-4D97-AF65-F5344CB8AC3E}">
        <p14:creationId xmlns:p14="http://schemas.microsoft.com/office/powerpoint/2010/main" val="13844679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47844-3782-2B6D-E841-E60E7470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513" y="290172"/>
            <a:ext cx="4004519" cy="457201"/>
          </a:xfrm>
        </p:spPr>
        <p:txBody>
          <a:bodyPr>
            <a:normAutofit fontScale="90000"/>
          </a:bodyPr>
          <a:lstStyle/>
          <a:p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LSB</a:t>
            </a:r>
            <a:r>
              <a:rPr lang="ru-RU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-стеганография</a:t>
            </a:r>
            <a:endParaRPr lang="ru-RU" sz="4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302E3E-FDBF-D81E-2388-D91825114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787" y="860117"/>
            <a:ext cx="9348281" cy="54791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95508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54CDCF-7A93-85D2-75DD-5E689549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254" y="214008"/>
            <a:ext cx="9906000" cy="1255880"/>
          </a:xfrm>
        </p:spPr>
        <p:txBody>
          <a:bodyPr/>
          <a:lstStyle/>
          <a:p>
            <a:r>
              <a:rPr lang="ru-RU" dirty="0">
                <a:effectLst/>
              </a:rPr>
              <a:t>Что делает анти-стеганография?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D87FC5-F24B-12B7-77ED-874F04C908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14936" y="1351508"/>
            <a:ext cx="1047023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Цели: обнаружение, извлечение или разрушение скрытых данных.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Основные методы:</a:t>
            </a:r>
            <a:endParaRPr lang="ru-RU" altLang="ru-RU" sz="32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Визуальные атаки (поиск изменений в оттенках).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Структурные атаки (анализ метаданных).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Статистические атаки (гистограммы, χ²-тест).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Машинное обучение (ML) и глубокое обучение (DL).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4645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A36D3-50BB-E0BC-573C-476B978F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668" y="420468"/>
            <a:ext cx="9906000" cy="814946"/>
          </a:xfrm>
        </p:spPr>
        <p:txBody>
          <a:bodyPr/>
          <a:lstStyle/>
          <a:p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Визуальные атаки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B6C41B-9B26-FA1D-12A9-69BFF1D52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8668" y="1325603"/>
            <a:ext cx="10338881" cy="1374776"/>
          </a:xfrm>
        </p:spPr>
        <p:txBody>
          <a:bodyPr>
            <a:normAutofit lnSpcReduction="10000"/>
          </a:bodyPr>
          <a:lstStyle/>
          <a:p>
            <a:r>
              <a:rPr lang="ru-RU" sz="2000" dirty="0"/>
              <a:t>поиск изменений в цветах, текстурах, шумах. </a:t>
            </a:r>
          </a:p>
          <a:p>
            <a:r>
              <a:rPr lang="ru-RU" sz="2000" dirty="0"/>
              <a:t>Пример: резкие переходы цветов в фото.</a:t>
            </a:r>
          </a:p>
          <a:p>
            <a:r>
              <a:rPr lang="ru-RU" sz="2000" dirty="0"/>
              <a:t>Плюсы: быстро, дёшево. Минусы: субъективность.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134FFE-4B2E-1BF5-BDE5-96071C8496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692"/>
          <a:stretch/>
        </p:blipFill>
        <p:spPr>
          <a:xfrm>
            <a:off x="1335964" y="2976663"/>
            <a:ext cx="4688553" cy="353996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C875DB-C00F-44E2-CA19-A82FAE8DF1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914"/>
          <a:stretch/>
        </p:blipFill>
        <p:spPr>
          <a:xfrm>
            <a:off x="6702390" y="2790568"/>
            <a:ext cx="4615742" cy="353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577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A36D3-50BB-E0BC-573C-476B978F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108" y="0"/>
            <a:ext cx="9906000" cy="814946"/>
          </a:xfrm>
        </p:spPr>
        <p:txBody>
          <a:bodyPr/>
          <a:lstStyle/>
          <a:p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Структурные атаки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B6C41B-9B26-FA1D-12A9-69BFF1D52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9F4B09-9395-7E78-F2BB-6CB3515B3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03" y="2433638"/>
            <a:ext cx="6415227" cy="42200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F6CE4C43-B0F1-9825-3BCC-40DEAE5B4BD3}"/>
              </a:ext>
            </a:extLst>
          </p:cNvPr>
          <p:cNvSpPr txBox="1">
            <a:spLocks/>
          </p:cNvSpPr>
          <p:nvPr/>
        </p:nvSpPr>
        <p:spPr>
          <a:xfrm>
            <a:off x="1395108" y="936904"/>
            <a:ext cx="10338881" cy="13747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 cap="all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анализ формата файла, заголовков, метаданных. </a:t>
            </a:r>
          </a:p>
          <a:p>
            <a:r>
              <a:rPr lang="ru-RU" sz="2000" dirty="0"/>
              <a:t>Пример: лишние байты в JPEG.</a:t>
            </a:r>
          </a:p>
          <a:p>
            <a:r>
              <a:rPr lang="ru-RU" sz="2000" dirty="0"/>
              <a:t>Плюсы: точность. Минусы: сложность с современными методами.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5824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A36D3-50BB-E0BC-573C-476B978F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0"/>
            <a:ext cx="9906000" cy="814946"/>
          </a:xfrm>
        </p:spPr>
        <p:txBody>
          <a:bodyPr/>
          <a:lstStyle/>
          <a:p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Статистические атаки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B6C41B-9B26-FA1D-12A9-69BFF1D52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4F2E26-AF48-D875-F877-13E906445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395" y="2258253"/>
            <a:ext cx="7912129" cy="43322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Текст 2">
            <a:extLst>
              <a:ext uri="{FF2B5EF4-FFF2-40B4-BE49-F238E27FC236}">
                <a16:creationId xmlns:a16="http://schemas.microsoft.com/office/drawing/2014/main" id="{E31426D9-17C6-F35F-F15D-192783962EEA}"/>
              </a:ext>
            </a:extLst>
          </p:cNvPr>
          <p:cNvSpPr txBox="1">
            <a:spLocks/>
          </p:cNvSpPr>
          <p:nvPr/>
        </p:nvSpPr>
        <p:spPr>
          <a:xfrm>
            <a:off x="1141411" y="814946"/>
            <a:ext cx="10338881" cy="13747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 cap="all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анализ гистограмм, χ²-тест, энтропия. </a:t>
            </a:r>
          </a:p>
          <a:p>
            <a:r>
              <a:rPr lang="ru-RU" sz="2000" dirty="0"/>
              <a:t>Точность до 90% для простых методов (например, LSB).</a:t>
            </a:r>
          </a:p>
          <a:p>
            <a:r>
              <a:rPr lang="ru-RU" sz="2000" dirty="0"/>
              <a:t>Проблема: низкая эффективность против адаптивной стеганографии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9289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A36D3-50BB-E0BC-573C-476B978F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404861"/>
            <a:ext cx="9906000" cy="814946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Машинное обучение и глубокое обучение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B6C41B-9B26-FA1D-12A9-69BFF1D52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E31426D9-17C6-F35F-F15D-192783962EEA}"/>
              </a:ext>
            </a:extLst>
          </p:cNvPr>
          <p:cNvSpPr txBox="1">
            <a:spLocks/>
          </p:cNvSpPr>
          <p:nvPr/>
        </p:nvSpPr>
        <p:spPr>
          <a:xfrm>
            <a:off x="1141411" y="970588"/>
            <a:ext cx="10338881" cy="1091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 cap="all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effectLst/>
              </a:rPr>
              <a:t>Нейронные сети (CNN, RNN) анализируют текстуры, частоты.</a:t>
            </a:r>
          </a:p>
          <a:p>
            <a:r>
              <a:rPr lang="ru-RU" sz="2000" dirty="0">
                <a:effectLst/>
              </a:rPr>
              <a:t>Точность до 95–99%, но требуются большие данные и вычисления.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5E5E89-519D-B67D-6648-B1331901A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482" y="2220517"/>
            <a:ext cx="8174306" cy="44076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71495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BF052-1F23-74BE-934C-0F531E5B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65371"/>
            <a:ext cx="10697151" cy="693841"/>
          </a:xfrm>
        </p:spPr>
        <p:txBody>
          <a:bodyPr/>
          <a:lstStyle/>
          <a:p>
            <a:r>
              <a:rPr lang="ru-RU" dirty="0">
                <a:effectLst/>
              </a:rPr>
              <a:t>Инструменты для борьбы со стеганографией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90AE6F-DC0D-B453-3953-25B4A9D65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1411" y="859212"/>
            <a:ext cx="1024655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Clearswift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удаление скрытых данных из изображений.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Stego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Watch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статистический анализ для судебных расследований.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EnCase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ILook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цифровая криминалистика, проверка метаданных.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Aletheia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ML-инструмент для анализа изображений (открытый код).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CDR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разоружение и восстановление содержимого для нейтрализации угроз.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77DBEB-FA18-CA67-5F4B-128CD5411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982" y="2417963"/>
            <a:ext cx="7596248" cy="42746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0723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BF052-1F23-74BE-934C-0F531E5B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590" y="0"/>
            <a:ext cx="10697151" cy="693841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Реальные примеры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90AE6F-DC0D-B453-3953-25B4A9D65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505" y="1611418"/>
            <a:ext cx="2994194" cy="3162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>
                <a:effectLst/>
              </a:rPr>
              <a:t>Операция «Призрачные истории» (2010): российские шпионы прятали коды в фото на Flickr.</a:t>
            </a:r>
          </a:p>
        </p:txBody>
      </p:sp>
      <p:pic>
        <p:nvPicPr>
          <p:cNvPr id="3" name="Рисунок 2" descr="New details of the arrest of Russian spies in 2010">
            <a:extLst>
              <a:ext uri="{FF2B5EF4-FFF2-40B4-BE49-F238E27FC236}">
                <a16:creationId xmlns:a16="http://schemas.microsoft.com/office/drawing/2014/main" id="{487579A0-EF50-2F6F-232E-9B5FB4875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186" y="945143"/>
            <a:ext cx="7454428" cy="49677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190563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BF052-1F23-74BE-934C-0F531E5B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590" y="0"/>
            <a:ext cx="10697151" cy="693841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Реальные примеры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90AE6F-DC0D-B453-3953-25B4A9D65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3590" y="788031"/>
            <a:ext cx="11212716" cy="50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>
                <a:effectLst/>
              </a:rPr>
              <a:t>Дело Чжэна </a:t>
            </a:r>
            <a:r>
              <a:rPr lang="ru-RU" sz="2400" dirty="0" err="1">
                <a:effectLst/>
              </a:rPr>
              <a:t>Сяоцина</a:t>
            </a:r>
            <a:r>
              <a:rPr lang="ru-RU" sz="2400" dirty="0">
                <a:effectLst/>
              </a:rPr>
              <a:t> (2018–2023): кража технологий GE в фото заката.</a:t>
            </a:r>
          </a:p>
        </p:txBody>
      </p:sp>
      <p:pic>
        <p:nvPicPr>
          <p:cNvPr id="6" name="Рисунок 5" descr="Engineer Allegedly Hid Stolen Files in Sunset Photo — Code and Dagger">
            <a:extLst>
              <a:ext uri="{FF2B5EF4-FFF2-40B4-BE49-F238E27FC236}">
                <a16:creationId xmlns:a16="http://schemas.microsoft.com/office/drawing/2014/main" id="{0F3201B2-9AB5-C6B7-CF36-0784BB98A6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273" y="1387682"/>
            <a:ext cx="9017454" cy="5073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2070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BF052-1F23-74BE-934C-0F531E5B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590" y="0"/>
            <a:ext cx="10697151" cy="693841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Реальные примеры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90AE6F-DC0D-B453-3953-25B4A9D65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7948" y="2299539"/>
            <a:ext cx="4753550" cy="1608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 err="1">
                <a:effectLst/>
              </a:rPr>
              <a:t>SolarWinds</a:t>
            </a:r>
            <a:r>
              <a:rPr lang="ru-RU" sz="2800" dirty="0">
                <a:effectLst/>
              </a:rPr>
              <a:t> (2020): стеганография в трафике и изображениях.</a:t>
            </a:r>
          </a:p>
        </p:txBody>
      </p:sp>
      <p:pic>
        <p:nvPicPr>
          <p:cNvPr id="5" name="Рисунок 4" descr="SolarWinds Supply Chain Attack Uses SUNBURST Backdoor | Google Cloud Blog">
            <a:extLst>
              <a:ext uri="{FF2B5EF4-FFF2-40B4-BE49-F238E27FC236}">
                <a16:creationId xmlns:a16="http://schemas.microsoft.com/office/drawing/2014/main" id="{72DB63DC-D10C-0A1D-B278-6CA482345F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925" y="168986"/>
            <a:ext cx="5543128" cy="65200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373298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BF052-1F23-74BE-934C-0F531E5B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590" y="0"/>
            <a:ext cx="10697151" cy="693841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Реальные примеры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90AE6F-DC0D-B453-3953-25B4A9D65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66312" y="642193"/>
            <a:ext cx="10522053" cy="50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>
                <a:effectLst/>
              </a:rPr>
              <a:t>2025 год: атаки через </a:t>
            </a:r>
            <a:r>
              <a:rPr lang="ru-RU" sz="2400" dirty="0" err="1">
                <a:effectLst/>
              </a:rPr>
              <a:t>WhatsApp</a:t>
            </a:r>
            <a:r>
              <a:rPr lang="ru-RU" sz="2400" dirty="0">
                <a:effectLst/>
              </a:rPr>
              <a:t> и </a:t>
            </a:r>
            <a:r>
              <a:rPr lang="ru-RU" sz="2400" dirty="0" err="1">
                <a:effectLst/>
              </a:rPr>
              <a:t>npm</a:t>
            </a:r>
            <a:r>
              <a:rPr lang="ru-RU" sz="2400" dirty="0">
                <a:effectLst/>
              </a:rPr>
              <a:t>-пакеты с вредоносным кодом.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D505CC6-C7FC-DEB7-822F-957BB72CB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092" y="4701255"/>
            <a:ext cx="753245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Кампания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GodRAT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Скрытие вредоносного кода в изображениях, выглядящих как графики или рекламные материалы.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Доступ хакеров к торговым платформам и личным данным жертв.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Использование специальных инструментов для анализа бинарных данных.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E0E0E7-645C-5E75-E4AE-4AE25199F08C}"/>
              </a:ext>
            </a:extLst>
          </p:cNvPr>
          <p:cNvSpPr txBox="1"/>
          <p:nvPr/>
        </p:nvSpPr>
        <p:spPr>
          <a:xfrm>
            <a:off x="596644" y="2413337"/>
            <a:ext cx="504539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Операция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BeardShell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Стеганография в облачных сервисах для скрытия команд управления в изображениях.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Использование для длительного шпионажа и сбора конфиденциальных данных.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Применение глубокого обучения для анализа в реальном времени.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8A733C-21DB-DD9F-3CE6-A6F51AAE5895}"/>
              </a:ext>
            </a:extLst>
          </p:cNvPr>
          <p:cNvSpPr txBox="1"/>
          <p:nvPr/>
        </p:nvSpPr>
        <p:spPr>
          <a:xfrm>
            <a:off x="3617068" y="1147652"/>
            <a:ext cx="63732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Кампания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FileFix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Внедрение вредоносного кода в файлы формата JPG с использованием скрытых скриптов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EXE.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Атака приписана APT28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Fancy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Bear).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Обход традиционных сигнатурных проверок.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7B6E73-40B9-3124-DDFF-F82A6D35F420}"/>
              </a:ext>
            </a:extLst>
          </p:cNvPr>
          <p:cNvSpPr txBox="1"/>
          <p:nvPr/>
        </p:nvSpPr>
        <p:spPr>
          <a:xfrm>
            <a:off x="5961435" y="2770116"/>
            <a:ext cx="61041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Кампания TAG-144 (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Blind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Eagle)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Внедрение удаленных доступных троянов (RAT) в изображения через соцсети и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Обеспечение полного контроля над заражёнными устройствами.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Применение поведенческого анализа и реверс-инжиниринга для нейтрализации угрозы. </a:t>
            </a:r>
          </a:p>
        </p:txBody>
      </p:sp>
    </p:spTree>
    <p:extLst>
      <p:ext uri="{BB962C8B-B14F-4D97-AF65-F5344CB8AC3E}">
        <p14:creationId xmlns:p14="http://schemas.microsoft.com/office/powerpoint/2010/main" val="5836393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BF052-1F23-74BE-934C-0F531E5B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590" y="0"/>
            <a:ext cx="10697151" cy="693841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Будущее анти-стеганографии</a:t>
            </a:r>
            <a:endParaRPr lang="ru-RU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20338B8-490D-C640-DFE4-9772BEC82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085" y="745771"/>
            <a:ext cx="109979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Проблемы 2025 года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</p:txBody>
      </p:sp>
      <p:pic>
        <p:nvPicPr>
          <p:cNvPr id="3" name="Рисунок 2" descr="Digital image steganalysis network strengthening framework based on  evolutionary algorithm | Scientific Reports">
            <a:extLst>
              <a:ext uri="{FF2B5EF4-FFF2-40B4-BE49-F238E27FC236}">
                <a16:creationId xmlns:a16="http://schemas.microsoft.com/office/drawing/2014/main" id="{56B27F05-96A3-55CF-F05F-CFBC101AA7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17" y="1528137"/>
            <a:ext cx="11810787" cy="51009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C557FE-B27F-8E73-B0A1-69ADE867209A}"/>
              </a:ext>
            </a:extLst>
          </p:cNvPr>
          <p:cNvSpPr txBox="1"/>
          <p:nvPr/>
        </p:nvSpPr>
        <p:spPr>
          <a:xfrm>
            <a:off x="4989458" y="516004"/>
            <a:ext cx="7251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Генеративные сети создают «невидимую» стеганографию.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60EF0-E11D-C20C-3A4D-8D8C80532499}"/>
              </a:ext>
            </a:extLst>
          </p:cNvPr>
          <p:cNvSpPr txBox="1"/>
          <p:nvPr/>
        </p:nvSpPr>
        <p:spPr>
          <a:xfrm>
            <a:off x="4986215" y="1146863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Сжатие файлов снижает точность обнаружения.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769A4-8FF4-F153-0EF1-E371F6927848}"/>
              </a:ext>
            </a:extLst>
          </p:cNvPr>
          <p:cNvSpPr txBox="1"/>
          <p:nvPr/>
        </p:nvSpPr>
        <p:spPr>
          <a:xfrm>
            <a:off x="4989458" y="836027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Требуются большие вычисления и данные. </a:t>
            </a:r>
          </a:p>
        </p:txBody>
      </p:sp>
    </p:spTree>
    <p:extLst>
      <p:ext uri="{BB962C8B-B14F-4D97-AF65-F5344CB8AC3E}">
        <p14:creationId xmlns:p14="http://schemas.microsoft.com/office/powerpoint/2010/main" val="7990336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BF052-1F23-74BE-934C-0F531E5B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590" y="0"/>
            <a:ext cx="10697151" cy="693841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Будущее анти-стеганографии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D8A85D-A18A-09AD-9BB9-4DC6A7146E3B}"/>
              </a:ext>
            </a:extLst>
          </p:cNvPr>
          <p:cNvSpPr txBox="1"/>
          <p:nvPr/>
        </p:nvSpPr>
        <p:spPr>
          <a:xfrm>
            <a:off x="7102004" y="1758958"/>
            <a:ext cx="49700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Перспективы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Глубокое обучение с точностью до 98% к 2030 году.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Квантовые вычисления для анализа в реальном времени.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Противоборствующее обучение для адаптации к новым угрозам.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8E17206-6BA9-F494-11D7-6FB187D22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22" y="865460"/>
            <a:ext cx="6363886" cy="55937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4416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E479D11-F397-0F43-3170-8128EC4B5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58" y="-88562"/>
            <a:ext cx="10898253" cy="1255881"/>
          </a:xfrm>
        </p:spPr>
        <p:txBody>
          <a:bodyPr/>
          <a:lstStyle/>
          <a:p>
            <a:r>
              <a:rPr lang="ru-RU" dirty="0">
                <a:effectLst/>
              </a:rPr>
              <a:t>Анти-стеганография – защита цифрового мира</a:t>
            </a:r>
            <a:br>
              <a:rPr lang="ru-RU" dirty="0">
                <a:effectLst/>
              </a:rPr>
            </a:br>
            <a:endParaRPr lang="ru-RU" dirty="0"/>
          </a:p>
        </p:txBody>
      </p:sp>
      <p:pic>
        <p:nvPicPr>
          <p:cNvPr id="8" name="Рисунок 7" descr="Chi-square steganalysis graphs of original, proposed and data-hidden... |  Download Scientific Diagram">
            <a:extLst>
              <a:ext uri="{FF2B5EF4-FFF2-40B4-BE49-F238E27FC236}">
                <a16:creationId xmlns:a16="http://schemas.microsoft.com/office/drawing/2014/main" id="{5F489BE8-A7CB-A2A4-0646-BFFE9BFAC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480" y="717754"/>
            <a:ext cx="6712085" cy="5903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840B7DFA-937B-9697-6431-E94C347DC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540" y="1843950"/>
            <a:ext cx="468548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ВЫВОД: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Анти-стеганография – ключ к борьбе с невидимыми угрозами.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Эволюция методов: от визуальных атак до ИИ и квантовых технологий.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Реальные случаи показывают важность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стеганализа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Призыв: инвестировать в исследования ИИ и адаптивных алгоритмов. </a:t>
            </a:r>
          </a:p>
        </p:txBody>
      </p:sp>
    </p:spTree>
    <p:extLst>
      <p:ext uri="{BB962C8B-B14F-4D97-AF65-F5344CB8AC3E}">
        <p14:creationId xmlns:p14="http://schemas.microsoft.com/office/powerpoint/2010/main" val="2837403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Мем: &quot;СПАСИБО ЗА ВНИМАНИЕ ПОСТАВЬТЕ 10 БАЛЛОВ ПОЖАЛУЙСТА&quot; - Все шаблоны -  Meme-arsenal.com">
            <a:extLst>
              <a:ext uri="{FF2B5EF4-FFF2-40B4-BE49-F238E27FC236}">
                <a16:creationId xmlns:a16="http://schemas.microsoft.com/office/drawing/2014/main" id="{B1E2CFAD-F7BF-C4CB-E869-6778E6D7C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372" y="0"/>
            <a:ext cx="915578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736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71</TotalTime>
  <Words>671</Words>
  <Application>Microsoft Office PowerPoint</Application>
  <PresentationFormat>Широкоэкранный</PresentationFormat>
  <Paragraphs>90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Times New Roman</vt:lpstr>
      <vt:lpstr>Tw Cen MT</vt:lpstr>
      <vt:lpstr>Контур</vt:lpstr>
      <vt:lpstr>Анти-стеганография: технологии, препятствующие скрытию информации </vt:lpstr>
      <vt:lpstr>Что такое анти-стеганография? </vt:lpstr>
      <vt:lpstr>Как работает стеганография? </vt:lpstr>
      <vt:lpstr>LSB-стеганография</vt:lpstr>
      <vt:lpstr>Что делает анти-стеганография? </vt:lpstr>
      <vt:lpstr>Визуальные атаки</vt:lpstr>
      <vt:lpstr>Структурные атаки</vt:lpstr>
      <vt:lpstr>Статистические атаки</vt:lpstr>
      <vt:lpstr>Машинное обучение и глубокое обучение </vt:lpstr>
      <vt:lpstr>Инструменты для борьбы со стеганографией</vt:lpstr>
      <vt:lpstr>Реальные примеры</vt:lpstr>
      <vt:lpstr>Реальные примеры</vt:lpstr>
      <vt:lpstr>Реальные примеры</vt:lpstr>
      <vt:lpstr>Реальные примеры</vt:lpstr>
      <vt:lpstr>Будущее анти-стеганографии</vt:lpstr>
      <vt:lpstr>Будущее анти-стеганографии</vt:lpstr>
      <vt:lpstr>Анти-стеганография – защита цифрового мира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Владислав Костюченкo</dc:creator>
  <cp:lastModifiedBy>Владислав Костюченкo</cp:lastModifiedBy>
  <cp:revision>2</cp:revision>
  <dcterms:created xsi:type="dcterms:W3CDTF">2025-10-27T17:36:55Z</dcterms:created>
  <dcterms:modified xsi:type="dcterms:W3CDTF">2025-10-27T18:48:54Z</dcterms:modified>
</cp:coreProperties>
</file>